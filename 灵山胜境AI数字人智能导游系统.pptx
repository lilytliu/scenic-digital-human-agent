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07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07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0" y="1463040"/>
            <a:ext cx="3291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4A3C31"/>
                </a:solidFill>
                <a:latin typeface="微软雅黑"/>
              </a:defRPr>
            </a:pPr>
            <a:r>
              <a:t>灵</a:t>
            </a:r>
          </a:p>
          <a:p>
            <a:pPr algn="ctr">
              <a:spcAft>
                <a:spcPts val="400"/>
              </a:spcAft>
              <a:defRPr sz="4000" b="1">
                <a:solidFill>
                  <a:srgbClr val="4A3C31"/>
                </a:solidFill>
                <a:latin typeface="微软雅黑"/>
              </a:defRPr>
            </a:pPr>
            <a:r>
              <a:t>山</a:t>
            </a:r>
          </a:p>
          <a:p>
            <a:pPr algn="ctr">
              <a:spcAft>
                <a:spcPts val="400"/>
              </a:spcAft>
              <a:defRPr sz="4000" b="1">
                <a:solidFill>
                  <a:srgbClr val="4A3C31"/>
                </a:solidFill>
                <a:latin typeface="微软雅黑"/>
              </a:defRPr>
            </a:pPr>
            <a:r>
              <a:t>胜</a:t>
            </a:r>
          </a:p>
          <a:p>
            <a:pPr algn="ctr">
              <a:spcAft>
                <a:spcPts val="400"/>
              </a:spcAft>
              <a:defRPr sz="4000" b="1">
                <a:solidFill>
                  <a:srgbClr val="4A3C31"/>
                </a:solidFill>
                <a:latin typeface="微软雅黑"/>
              </a:defRPr>
            </a:pPr>
            <a:r>
              <a:t>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977639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C8963E"/>
                </a:solidFill>
                <a:latin typeface="微软雅黑"/>
              </a:defRPr>
            </a:pPr>
            <a:r>
              <a:t>乘云而入 · 一山一世界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4A3C31"/>
                </a:solidFill>
                <a:latin typeface="微软雅黑"/>
              </a:defRPr>
            </a:pPr>
            <a:r>
              <a:t>灵山胜境 AI 数字人智能导游系统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A0722A"/>
                </a:solidFill>
                <a:latin typeface="微软雅黑"/>
              </a:defRPr>
            </a:pPr>
            <a:r>
              <a:t>中国软件杯 2026 · 赛题 A5 智慧景区导览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让每一位游客，都拥有一座山、一个专属导游。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5669280" cy="146304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灵导者队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指导教师：张鹏程</a:t>
            </a:r>
            <a:br/>
            <a:r>
              <a:t>团队成员：三人协作 · 后端AI / 前端 / 全栈后台</a:t>
            </a:r>
            <a:br/>
            <a:r>
              <a:t>2026 年 7 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852160"/>
            <a:ext cx="5669280" cy="45720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【配图】灵山破晓大图全屏背景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文旅产业数字化：一场"由大到智"的变革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十四五智慧旅游 · 市场规模持续扩大 · 游客需求升级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420624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4864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【图表1】中国智慧文旅市场规模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柱状图 + 增长箭头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2020 → 2026E 复合增长率 10%+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【图表2】国内旅游人次增长曲线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折线图 2023-2025 复苏趋势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94960" cy="182880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国家战略支撑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十四五规划明确"智慧旅游"方向</a:t>
            </a:r>
            <a:br/>
            <a:r>
              <a:t>文旅数字化上升为国家战略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383280"/>
            <a:ext cx="5394960" cy="182880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游客需求升级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从"走马观花"到"深度体验、个性定制"</a:t>
            </a:r>
            <a:br/>
            <a:r>
              <a:t>5G / 大模型 / 数字人技术成熟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44E3D"/>
                </a:solidFill>
                <a:latin typeface="微软雅黑"/>
              </a:defRPr>
            </a:pPr>
            <a:r>
              <a:t>数据来源：需上网核实（建议检索"中国智慧旅游市场规模 2025"）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旺季"一导难求"：百万游客谁来讲解？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导游供给 vs 客流需求的巨大鸿沟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669280" cy="420624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6692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【图表】客流 vs 导游 双柱对比图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日均游客 [数万人]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在岗导游 [百余人]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差距可达数百倍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讲解覆盖率 &lt;20%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303520" cy="1371600"/>
          </a:xfrm>
          <a:prstGeom prst="roundRect">
            <a:avLst/>
          </a:prstGeom>
          <a:solidFill>
            <a:srgbClr val="F5EAE6"/>
          </a:solidFill>
          <a:ln w="12700">
            <a:solidFill>
              <a:srgbClr val="C4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供给天花板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导游数量与作息时间受限</a:t>
            </a:r>
            <a:br/>
            <a:r>
              <a:t>旺季讲解排队严重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5303520" cy="1371600"/>
          </a:xfrm>
          <a:prstGeom prst="roundRect">
            <a:avLst/>
          </a:prstGeom>
          <a:solidFill>
            <a:srgbClr val="F5EAE6"/>
          </a:solidFill>
          <a:ln w="12700">
            <a:solidFill>
              <a:srgbClr val="C4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体验受损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游客走马观花、错过文化内核</a:t>
            </a:r>
            <a:br/>
            <a:r>
              <a:t>传统语音导览器有限且内容固定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480560"/>
            <a:ext cx="5303520" cy="1097280"/>
          </a:xfrm>
          <a:prstGeom prst="roundRect">
            <a:avLst/>
          </a:prstGeom>
          <a:solidFill>
            <a:srgbClr val="FBF0EA"/>
          </a:solidFill>
          <a:ln w="12700">
            <a:solidFill>
              <a:srgbClr val="C4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一句话痛点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好的讲解，始终是"稀缺资源"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44E3D"/>
                </a:solidFill>
                <a:latin typeface="微软雅黑"/>
              </a:defRPr>
            </a:pPr>
            <a:r>
              <a:t>配图建议：景区人山人海实景（注意版权）｜ 数据需上网核实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传统导览"听不到、问不了、记不下"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信息碎片化 + 运营数据黑盒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292608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三类导览方式对比</a:t>
            </a:r>
          </a:p>
          <a:p>
            <a:pPr>
              <a:spcBef>
                <a:spcPts val="600"/>
              </a:spcBef>
              <a:defRPr sz="1200">
                <a:solidFill>
                  <a:srgbClr val="4A3C31"/>
                </a:solidFill>
                <a:latin typeface="微软雅黑"/>
              </a:defRPr>
            </a:pPr>
            <a:r>
              <a:t>维度    人工导游    传统语音导览器    普通AI问答App</a:t>
            </a:r>
            <a:br/>
            <a:r>
              <a:t>可追问    ✔ 但排队   ✗ 固定播放       ✔</a:t>
            </a:r>
            <a:br/>
            <a:r>
              <a:t>覆盖人数  极少        有限              任意</a:t>
            </a:r>
            <a:br/>
            <a:r>
              <a:t>个性化    一般        ✗                弱</a:t>
            </a:r>
            <a:br/>
            <a:r>
              <a:t>沉浸感    ✔          ✗                ✗</a:t>
            </a:r>
            <a:br/>
            <a:r>
              <a:t>数据沉淀   ✗          ✗                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80560"/>
            <a:ext cx="5394960" cy="155448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痛点② 信息碎片化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景点信息散落官网/公众号/地图/告示牌</a:t>
            </a:r>
            <a:br/>
            <a:r>
              <a:t>游客反复切换，成本高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480560"/>
            <a:ext cx="5394960" cy="155448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痛点③ 数据黑盒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景区不知道游客关心什么、满意与否</a:t>
            </a:r>
            <a:br/>
            <a:r>
              <a:t>运营靠经验"拍脑袋"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44E3D"/>
                </a:solidFill>
                <a:latin typeface="微软雅黑"/>
              </a:defRPr>
            </a:pPr>
            <a:r>
              <a:t>检索建议："景区智慧导览 覆盖率" / "景区 游客 咨询 数据 未沉淀"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破局之道：AI 数字人，让导览"无人也能精彩"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四个痛点 → 四个答案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572000" cy="960120"/>
          </a:xfrm>
          <a:prstGeom prst="roundRect">
            <a:avLst/>
          </a:prstGeom>
          <a:solidFill>
            <a:srgbClr val="F5EAE6"/>
          </a:solidFill>
          <a:ln w="12700">
            <a:solidFill>
              <a:srgbClr val="C4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C44E3D"/>
                </a:solidFill>
                <a:latin typeface="微软雅黑"/>
              </a:defRPr>
            </a:pPr>
            <a:r>
              <a:t>供需矛盾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9" name="Chevron 8"/>
          <p:cNvSpPr/>
          <p:nvPr/>
        </p:nvSpPr>
        <p:spPr>
          <a:xfrm>
            <a:off x="5577840" y="1554480"/>
            <a:ext cx="548640" cy="548640"/>
          </a:xfrm>
          <a:prstGeom prst="chevron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96012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2D8A7B"/>
                </a:solidFill>
                <a:latin typeface="微软雅黑"/>
              </a:defRPr>
            </a:pPr>
            <a:r>
              <a:t>数字人 24h 在线，同时服务海量游客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4572000" cy="960120"/>
          </a:xfrm>
          <a:prstGeom prst="roundRect">
            <a:avLst/>
          </a:prstGeom>
          <a:solidFill>
            <a:srgbClr val="F5EAE6"/>
          </a:solidFill>
          <a:ln w="12700">
            <a:solidFill>
              <a:srgbClr val="C4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C44E3D"/>
                </a:solidFill>
                <a:latin typeface="微软雅黑"/>
              </a:defRPr>
            </a:pPr>
            <a:r>
              <a:t>交互单一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2" name="Chevron 11"/>
          <p:cNvSpPr/>
          <p:nvPr/>
        </p:nvSpPr>
        <p:spPr>
          <a:xfrm>
            <a:off x="5577840" y="2743200"/>
            <a:ext cx="548640" cy="548640"/>
          </a:xfrm>
          <a:prstGeom prst="chevron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560320"/>
            <a:ext cx="5120640" cy="96012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2D8A7B"/>
                </a:solidFill>
                <a:latin typeface="微软雅黑"/>
              </a:defRPr>
            </a:pPr>
            <a:r>
              <a:t>文字 + 语音 + 数字人口型，可追问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4572000" cy="960120"/>
          </a:xfrm>
          <a:prstGeom prst="roundRect">
            <a:avLst/>
          </a:prstGeom>
          <a:solidFill>
            <a:srgbClr val="F5EAE6"/>
          </a:solidFill>
          <a:ln w="12700">
            <a:solidFill>
              <a:srgbClr val="C4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C44E3D"/>
                </a:solidFill>
                <a:latin typeface="微软雅黑"/>
              </a:defRPr>
            </a:pPr>
            <a:r>
              <a:t>个性化缺失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5" name="Chevron 14"/>
          <p:cNvSpPr/>
          <p:nvPr/>
        </p:nvSpPr>
        <p:spPr>
          <a:xfrm>
            <a:off x="5577840" y="3931920"/>
            <a:ext cx="548640" cy="548640"/>
          </a:xfrm>
          <a:prstGeom prst="chevron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749039"/>
            <a:ext cx="5120640" cy="96012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2D8A7B"/>
                </a:solidFill>
                <a:latin typeface="微软雅黑"/>
              </a:defRPr>
            </a:pPr>
            <a:r>
              <a:t>偏好定制路线，千人千面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4572000" cy="960120"/>
          </a:xfrm>
          <a:prstGeom prst="roundRect">
            <a:avLst/>
          </a:prstGeom>
          <a:solidFill>
            <a:srgbClr val="F5EAE6"/>
          </a:solidFill>
          <a:ln w="12700">
            <a:solidFill>
              <a:srgbClr val="C4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C44E3D"/>
                </a:solidFill>
                <a:latin typeface="微软雅黑"/>
              </a:defRPr>
            </a:pPr>
            <a:r>
              <a:t>数据黑盒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8" name="Chevron 17"/>
          <p:cNvSpPr/>
          <p:nvPr/>
        </p:nvSpPr>
        <p:spPr>
          <a:xfrm>
            <a:off x="5577840" y="5120640"/>
            <a:ext cx="548640" cy="548640"/>
          </a:xfrm>
          <a:prstGeom prst="chevron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4937760"/>
            <a:ext cx="5120640" cy="96012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2D8A7B"/>
                </a:solidFill>
                <a:latin typeface="微软雅黑"/>
              </a:defRPr>
            </a:pPr>
            <a:r>
              <a:t>全链路数据沉淀，运营有据可依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A0722A"/>
                </a:solidFill>
                <a:latin typeface="微软雅黑"/>
              </a:defRPr>
            </a:pPr>
            <a:r>
              <a:t>从"背景"到"问题"再到"项目"：让每一位游客都有专属导游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一套系统，两端用户，一个闭环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游客端 + 管理后台 · 数据双向流动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365760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游客画像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手机端 · 边走边看</a:t>
            </a:r>
            <a:br/>
            <a:r>
              <a:t>需语音播报 · 关注票价/路线/文化</a:t>
            </a:r>
            <a:br/>
            <a:r>
              <a:t>零安装：扫码即用，免下载免租赁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365760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管理员画像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PC端 · 非技术人员</a:t>
            </a:r>
            <a:br/>
            <a:r>
              <a:t>需维护知识库 / 看数据 / 要可视化</a:t>
            </a:r>
            <a:br/>
            <a:r>
              <a:t>一个人即可运营一座景区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5212080"/>
            <a:ext cx="5943600" cy="82296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530352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双端闭环：游客用 → 数据沉淀 → 管理员优化 → 反哺游客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五层架构 · 三端协同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React前端 / FastAPI后端 / 魔珐星云数字人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280160"/>
            <a:ext cx="2194560" cy="82296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用户访问层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7863840" cy="82296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手机 / PC 浏览器（HTTPS）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67712"/>
            <a:ext cx="2194560" cy="82296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前端展示层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3383280" y="2267712"/>
            <a:ext cx="7863840" cy="82296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React 18 + Vite + 国风UI ｜ 游客端5模块 / 管理后台7模块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55264"/>
            <a:ext cx="2194560" cy="82296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后端服务层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3383280" y="3255264"/>
            <a:ext cx="7863840" cy="82296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FastAPI /api/* ｜ chat · voice · admin · upload ·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42816"/>
            <a:ext cx="2194560" cy="82296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AI 能力层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3383280" y="4242816"/>
            <a:ext cx="7863840" cy="82296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DeepSeek + RAG + faster-whisper + edge-tts + 魔珐星云 + 高德地图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30368"/>
            <a:ext cx="2194560" cy="822960"/>
          </a:xfrm>
          <a:prstGeom prst="roundRect">
            <a:avLst/>
          </a:prstGeom>
          <a:solidFill>
            <a:srgbClr val="EDE6DA"/>
          </a:solidFill>
          <a:ln w="12700">
            <a:solidFill>
              <a:srgbClr val="8C7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数据层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3383280" y="5230368"/>
            <a:ext cx="7863840" cy="82296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8C7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SQLite(9张表) + ChromaDB(向量知识库)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A0722A"/>
                </a:solidFill>
                <a:latin typeface="微软雅黑"/>
              </a:defRPr>
            </a:pPr>
            <a:r>
              <a:t>外部服务：DeepSeek API / 魔珐星云平台 / 高德地图（云端，无需本地GPU）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一次问答的旅程：从提问到口型播报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6 个瞬间 · 首token &lt;2s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554480" cy="146304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554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① 专有名词纠错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1031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9152" y="1645920"/>
            <a:ext cx="1554480" cy="146304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1737360"/>
            <a:ext cx="1554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② ChromaDB 向量检索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031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645920"/>
            <a:ext cx="1554480" cy="146304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737360"/>
            <a:ext cx="1554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③ 提示词增强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1031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645920"/>
            <a:ext cx="1554480" cy="1463040"/>
          </a:xfrm>
          <a:prstGeom prst="roundRect">
            <a:avLst/>
          </a:prstGeom>
          <a:solidFill>
            <a:srgbClr val="2D8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1737360"/>
            <a:ext cx="1554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④ DeepSeek 流式生成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21031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645920"/>
            <a:ext cx="1554480" cy="1463040"/>
          </a:xfrm>
          <a:prstGeom prst="roundRect">
            <a:avLst/>
          </a:prstGeom>
          <a:solidFill>
            <a:srgbClr val="2D8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1737360"/>
            <a:ext cx="1554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⑤ 前端打字机展示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21031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1645920"/>
            <a:ext cx="1554480" cy="1463040"/>
          </a:xfrm>
          <a:prstGeom prst="roundRect">
            <a:avLst/>
          </a:prstGeom>
          <a:solidFill>
            <a:srgbClr val="C4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737360"/>
            <a:ext cx="1554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⑥ 魔珐星云口型播报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74720"/>
            <a:ext cx="11064240" cy="228600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66160"/>
            <a:ext cx="11064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【配图】真实对话截图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游客提问 → 流式回答 → 数字人播报 全过程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链路耗时：首token &lt;2s ｜ 全链路约 3-5s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A0722A"/>
                </a:solidFill>
                <a:latin typeface="微软雅黑"/>
              </a:defRPr>
            </a:pPr>
            <a:r>
              <a:t>讲解要点："灵山警区"→"灵山景区" 的景区专有名词纠错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14 大模块，覆盖"游前-游中-游后"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游客端 5 模块 + 管理后台 8 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384048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游客端 5 大模块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首页 —— 一屏看懂景区</a:t>
            </a:r>
            <a:br/>
            <a:r>
              <a:t>云端伴游 —— 数字人问答</a:t>
            </a:r>
            <a:br/>
            <a:r>
              <a:t>游园地图 —— 高德真实路线</a:t>
            </a:r>
            <a:br/>
            <a:r>
              <a:t>智能定制 —— 千人千面</a:t>
            </a:r>
            <a:br/>
            <a:r>
              <a:t>胜境风物 —— 评价打卡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384048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管理后台 8 大模块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数据大屏 · 知识库</a:t>
            </a:r>
            <a:br/>
            <a:r>
              <a:t>景区管理 · 数字人配置</a:t>
            </a:r>
            <a:br/>
            <a:r>
              <a:rPr/>
              <a:t>游客评价 · 游客打卡</a:t>
            </a:r>
            <a:br/>
            <a:r>
              <a:t>反馈报告</a:t>
            </a:r>
            <a:r>
              <a:rPr/>
              <a:t>_x000B_失物招领 · 投诉建议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【配图】功能截图拼贴墙（5+7 张，从系统实际运行截取）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A0722A"/>
                </a:solidFill>
                <a:latin typeface="微软雅黑"/>
              </a:defRPr>
            </a:pPr>
            <a:r>
              <a:t>游前：定制路线 → 游中：数字人讲解 + 地图带路 → 游后：评价打卡沉淀口碑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三套方案：从"个人演示"到"云端可部署"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轻量化交付 · 无需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377440" cy="118872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方案 A 本地开发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926080" cy="118872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8C7C6E"/>
                </a:solidFill>
                <a:latin typeface="微软雅黑"/>
              </a:defRPr>
            </a:pPr>
            <a:r>
              <a:t>开发调试 · 本地演示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3291840" cy="118872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8C7C6E"/>
                </a:solidFill>
                <a:latin typeface="微软雅黑"/>
              </a:defRPr>
            </a:pPr>
            <a:r>
              <a:t>后端+前端+知识库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9875520" y="1371600"/>
            <a:ext cx="1645920" cy="118872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A0722A"/>
                </a:solidFill>
                <a:latin typeface="微软雅黑"/>
              </a:defRPr>
            </a:pPr>
            <a:r>
              <a:t>★☆☆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2377440" cy="118872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方案 B Docker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3291840" y="2834640"/>
            <a:ext cx="2926080" cy="118872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8C7C6E"/>
                </a:solidFill>
                <a:latin typeface="微软雅黑"/>
              </a:defRPr>
            </a:pPr>
            <a:r>
              <a:t>服务器 · 团队协作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40"/>
            <a:ext cx="3291840" cy="118872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8C7C6E"/>
                </a:solidFill>
                <a:latin typeface="微软雅黑"/>
              </a:defRPr>
            </a:pPr>
            <a:r>
              <a:t>容器化部署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9875520" y="2834640"/>
            <a:ext cx="1645920" cy="118872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A0722A"/>
                </a:solidFill>
                <a:latin typeface="微软雅黑"/>
              </a:defRPr>
            </a:pPr>
            <a:r>
              <a:t>★★☆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2377440" cy="118872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方案 C 魔珐星云配置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3291840" y="4297680"/>
            <a:ext cx="2926080" cy="118872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8C7C6E"/>
                </a:solidFill>
                <a:latin typeface="微软雅黑"/>
              </a:defRPr>
            </a:pPr>
            <a:r>
              <a:t>完整功能展示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400800" y="4297680"/>
            <a:ext cx="3291840" cy="118872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8C7C6E"/>
                </a:solidFill>
                <a:latin typeface="微软雅黑"/>
              </a:defRPr>
            </a:pPr>
            <a:r>
              <a:t>A/B + 数字人配置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9875520" y="4297680"/>
            <a:ext cx="1645920" cy="118872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A0722A"/>
                </a:solidFill>
                <a:latin typeface="微软雅黑"/>
              </a:defRPr>
            </a:pPr>
            <a:r>
              <a:t>★★☆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A0722A"/>
                </a:solidFill>
                <a:latin typeface="微软雅黑"/>
              </a:defRPr>
            </a:pPr>
            <a:r>
              <a:t>核心卖点：无需 GPU —— 大模型云端推理、数字人云平台驱动、向量化 CPU 即可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一套"务实"的技术栈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成熟 · 开源 · 低成本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51760" cy="384048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前端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React 18 · TypeScript</a:t>
            </a:r>
            <a:br/>
            <a:r>
              <a:t>Vite 6 · Ant Design</a:t>
            </a:r>
            <a:br/>
            <a:r>
              <a:t>Recharts 图表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651760" cy="384048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后端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FastAPI · SQLAlchemy</a:t>
            </a:r>
            <a:br/>
            <a:r>
              <a:t>SQLite 业务数据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63040"/>
            <a:ext cx="2651760" cy="384048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AI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DeepSeek · ChromaDB</a:t>
            </a:r>
            <a:br/>
            <a:r>
              <a:t>text2vec · faster-whisper</a:t>
            </a:r>
            <a:br/>
            <a:r>
              <a:t>edge-tts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19" y="1463040"/>
            <a:ext cx="2651760" cy="384048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生态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魔珐星云 SDK</a:t>
            </a:r>
            <a:br/>
            <a:r>
              <a:t>高德 JS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A0722A"/>
                </a:solidFill>
                <a:latin typeface="微软雅黑"/>
              </a:defRPr>
            </a:pPr>
            <a:r>
              <a:t>选型原则：用成熟、开源、低成本的技术，把每个环节做扎实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【配图】技术图标矩阵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RAG 检索增强生成：让大模型"懂灵山、不胡说"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核心底座 · 抑制幻觉 · 可追溯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486400" cy="274320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RAG vs 裸大模型</a:t>
            </a:r>
          </a:p>
          <a:p>
            <a:pPr>
              <a:spcBef>
                <a:spcPts val="600"/>
              </a:spcBef>
              <a:defRPr sz="1200">
                <a:solidFill>
                  <a:srgbClr val="4A3C31"/>
                </a:solidFill>
                <a:latin typeface="微软雅黑"/>
              </a:defRPr>
            </a:pPr>
            <a:r>
              <a:t>知识准确性   可能幻觉   →  基于知识库事实</a:t>
            </a:r>
            <a:br/>
            <a:r>
              <a:t>景区专属     ✗          →  灵山+拈花湾专属</a:t>
            </a:r>
            <a:br/>
            <a:r>
              <a:t>知识更新     不可控     →  后台上传即生效</a:t>
            </a:r>
            <a:br/>
            <a:r>
              <a:t>回答可追溯   ✗          →  引用知识片段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03520" cy="274320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技术流程</a:t>
            </a:r>
          </a:p>
          <a:p>
            <a:pPr>
              <a:spcBef>
                <a:spcPts val="600"/>
              </a:spcBef>
              <a:defRPr sz="1200">
                <a:solidFill>
                  <a:srgbClr val="4A3C31"/>
                </a:solidFill>
                <a:latin typeface="微软雅黑"/>
              </a:defRPr>
            </a:pPr>
            <a:r>
              <a:t>景区资料 → 文本切片(500字)</a:t>
            </a:r>
            <a:br/>
            <a:r>
              <a:t>→ text2vec 向量化 → ChromaDB</a:t>
            </a:r>
            <a:br/>
            <a:r>
              <a:t>→ 提问检索 top5</a:t>
            </a:r>
            <a:br/>
            <a:r>
              <a:t>→ 知识片段+提示词 → DeepSeek</a:t>
            </a:r>
            <a:br/>
            <a:r>
              <a:t>→ 带引用回答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11064240" cy="155448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【配图】RAG 链路示意图（矢量图）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46 条知识条目 + 76 条向量片段，成为大模型"看得见、引得出"的可靠依据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A0722A"/>
                </a:solidFill>
                <a:latin typeface="微软雅黑"/>
              </a:defRPr>
            </a:pPr>
            <a:r>
              <a:t>讲解重点：从根上解决大模型幻觉问题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从"开口"到"出声"：完整的语音链路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ASR 识别 → 纠错 → 问答 → TTS → 播报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554480" cy="128016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554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麦克风录音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0116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9152" y="1554480"/>
            <a:ext cx="1554480" cy="128016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1600200"/>
            <a:ext cx="1554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faster-whisper 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116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554480"/>
            <a:ext cx="1554480" cy="1280160"/>
          </a:xfrm>
          <a:prstGeom prst="roundRect">
            <a:avLst/>
          </a:prstGeom>
          <a:solidFill>
            <a:srgbClr val="2D8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600200"/>
            <a:ext cx="1554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专有名词纠错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0116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554480"/>
            <a:ext cx="1554480" cy="1280160"/>
          </a:xfrm>
          <a:prstGeom prst="roundRect">
            <a:avLst/>
          </a:prstGeom>
          <a:solidFill>
            <a:srgbClr val="2D8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1600200"/>
            <a:ext cx="1554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进入问答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20116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554480"/>
            <a:ext cx="1554480" cy="1280160"/>
          </a:xfrm>
          <a:prstGeom prst="roundRect">
            <a:avLst/>
          </a:prstGeom>
          <a:solidFill>
            <a:srgbClr val="C4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1600200"/>
            <a:ext cx="1554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edge-tts 合成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20116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0722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1554480"/>
            <a:ext cx="1554480" cy="1280160"/>
          </a:xfrm>
          <a:prstGeom prst="roundRect">
            <a:avLst/>
          </a:prstGeom>
          <a:solidFill>
            <a:srgbClr val="C4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600200"/>
            <a:ext cx="1554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数字人播报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08960"/>
            <a:ext cx="5486400" cy="237744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景区级定制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语音热词：注入"灵山胜境/九龙灌浴/佛足坛"</a:t>
            </a:r>
            <a:br/>
            <a:r>
              <a:t>专有名词纠错：</a:t>
            </a:r>
            <a:br/>
            <a:r>
              <a:t>  灵山警区 → 灵山景区</a:t>
            </a:r>
            <a:br/>
            <a:r>
              <a:t>  佛祖坛 → 佛足坛</a:t>
            </a:r>
            <a:br/>
            <a:r>
              <a:t>  青铜佛祖印 → 青铜佛足印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108960"/>
            <a:ext cx="5303520" cy="237744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性能指标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流式首 token &lt; 2s</a:t>
            </a:r>
            <a:br/>
            <a:r>
              <a:t>识别 → 问答 → 播报全链路流畅</a:t>
            </a:r>
            <a:br/>
            <a:r>
              <a:t>生僻景区词识别率大幅提升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会说话、会口型的数字人：魔珐星云平台接入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3 人像 · 口型同步 · 云平台驱动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486400" cy="329184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三大人像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导游小文 —— 通用导览</a:t>
            </a:r>
            <a:br/>
            <a:r>
              <a:t>导游小云 —— 文化讲解</a:t>
            </a:r>
            <a:br/>
            <a:r>
              <a:t>导游小灵 —— 禅意讲解</a:t>
            </a:r>
            <a:br/>
            <a:br/>
            <a:r>
              <a:t>一键切换 · SDK 动态加载</a:t>
            </a:r>
            <a:br/>
            <a:r>
              <a:t>speak() 驱动口型同步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03520" cy="329184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会话状态机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idle → loading-sdk</a:t>
            </a:r>
            <a:br/>
            <a:r>
              <a:t>→ initializing → live</a:t>
            </a:r>
            <a:br/>
            <a:r>
              <a:t>→ speaking → error</a:t>
            </a:r>
            <a:br/>
            <a:br/>
            <a:r>
              <a:t>会话销毁机制 · 避免持续计费</a:t>
            </a:r>
            <a:br/>
            <a:r>
              <a:t>加载进度条实时反馈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【配图】3 个数字人形象截图 + 口型同步演示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A0722A"/>
                </a:solidFill>
                <a:latin typeface="微软雅黑"/>
              </a:defRPr>
            </a:pPr>
            <a:r>
              <a:t>优势：不买 GPU、不部署引擎，申请账号填配置即用，商业级形象品质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从"看地图"到"带路走"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高德真实步行路径 + 智能定制路线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486400" cy="329184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高德 AMap.Walking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真实步行路径规划（非直线示意）</a:t>
            </a:r>
            <a:br/>
            <a:br/>
            <a:r>
              <a:t>6 条内置路线：</a:t>
            </a:r>
            <a:br/>
            <a:r>
              <a:t>  历史文化 / 自然风光 / 亲子</a:t>
            </a:r>
            <a:br/>
            <a:r>
              <a:t>  祈福 / 拍照 / 禅意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03520" cy="329184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智能定制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选择游览时长 / 偏好主题</a:t>
            </a:r>
            <a:br/>
            <a:r>
              <a:t>步调节奏 / 同行人群</a:t>
            </a:r>
            <a:br/>
            <a:br/>
            <a:r>
              <a:t>自动生成专属路线</a:t>
            </a:r>
            <a:br/>
            <a:r>
              <a:t>一键跳转地图展开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【配图】游园地图截图（高德路径）+ 智能定制表单截图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A0722A"/>
                </a:solidFill>
                <a:latin typeface="微软雅黑"/>
              </a:defRPr>
            </a:pPr>
            <a:r>
              <a:t>游客说"我带孩子、要轻松"，系统就生成一条亲子路线 —— 千人千面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每一次交互，都成为景区资产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数据闭环 · 安全合规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201168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数据闭环</a:t>
            </a:r>
          </a:p>
          <a:p>
            <a:pPr>
              <a:spcBef>
                <a:spcPts val="600"/>
              </a:spcBef>
              <a:defRPr sz="1200">
                <a:solidFill>
                  <a:srgbClr val="4A3C31"/>
                </a:solidFill>
                <a:latin typeface="微软雅黑"/>
              </a:defRPr>
            </a:pPr>
            <a:r>
              <a:t>游客交互 → 对话/反馈/评价/打卡 落库</a:t>
            </a:r>
            <a:br/>
            <a:r>
              <a:t>→ 数据大屏实时统计 → 运营洞察 → 反哺知识库 / 服务优化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5394960" cy="228600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数据大屏指标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服务人次 · 独立游客</a:t>
            </a:r>
            <a:br/>
            <a:r>
              <a:t>7 日趋势 · 各景点对话量</a:t>
            </a:r>
            <a:br/>
            <a:r>
              <a:t>热门问题 · 满意度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394960" cy="228600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安全合规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HTTPS 加密传输</a:t>
            </a:r>
            <a:br/>
            <a:r>
              <a:t>UUID 令牌鉴权</a:t>
            </a:r>
            <a:br/>
            <a:r>
              <a:t>SQL 注入防护</a:t>
            </a:r>
            <a:br/>
            <a:r>
              <a:t>手机号脱敏 · 最小化收集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【配图】管理后台数据大屏截图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五大创新，直击行业痛点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从"能用"到"好用"再到"有数据"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182880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① RAG + 结构化知识库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抑制幻觉 · 回答可追溯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182880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② 数字人 + 语音全链路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口型同步 · 沉浸式交互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394960" cy="182880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③ 高德真实路径 + 智能定制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从"看图"到"带路"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394960" cy="182880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④ 评价打卡 + 数据大屏闭环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运营数据驱动决策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同样的导览，为什么我们更"懂"游客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横向对比 · 全维度覆盖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3840480"/>
          </a:xfrm>
          <a:prstGeom prst="roundRect">
            <a:avLst/>
          </a:prstGeom>
          <a:solidFill>
            <a:srgbClr val="FBF9F5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方案对比</a:t>
            </a:r>
          </a:p>
          <a:p>
            <a:pPr>
              <a:spcBef>
                <a:spcPts val="600"/>
              </a:spcBef>
              <a:defRPr sz="1200">
                <a:solidFill>
                  <a:srgbClr val="4A3C31"/>
                </a:solidFill>
                <a:latin typeface="微软雅黑"/>
              </a:defRPr>
            </a:pPr>
            <a:r>
              <a:t>维度        传统语音导览器   普通AI问答App   竞品数字人    ★本项目★</a:t>
            </a:r>
            <a:br/>
            <a:r>
              <a:t>可追问交互   ✗               ✔               ✔            ✔ 数字人</a:t>
            </a:r>
            <a:br/>
            <a:r>
              <a:t>知识准确性   静态             易幻觉          一般          RAG本地库</a:t>
            </a:r>
            <a:br/>
            <a:r>
              <a:t>个性化路线   ✗               ✗               弱            智能定制</a:t>
            </a:r>
            <a:br/>
            <a:r>
              <a:t>地图真实路径 ✗               ✗               ✗            高德步行</a:t>
            </a:r>
            <a:br/>
            <a:r>
              <a:t>沉浸感       ✗               ✗               中            口型同步</a:t>
            </a:r>
            <a:br/>
            <a:r>
              <a:t>数据闭环     ✗               ✗               弱            完整闭环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【图表】雷达图：交互 / 准确性 / 个性化 / 沉浸 / 数据 五维对比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A0722A"/>
                </a:solidFill>
                <a:latin typeface="微软雅黑"/>
              </a:defRPr>
            </a:pPr>
            <a:r>
              <a:t>竞品可能在某一点有亮点，但我们是全维度覆盖 —— 完整的产品级能力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从"软件杯作品"到"可落地的产业方案"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赛题全覆盖 · 未来可期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274320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赛题要求满足度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智能问答 ✔  语音交互 ✔</a:t>
            </a:r>
            <a:br/>
            <a:r>
              <a:t>数字人 ✔    知识库管理 ✔</a:t>
            </a:r>
            <a:br/>
            <a:r>
              <a:t>数据大屏 ✔  多景区 ✔</a:t>
            </a:r>
            <a:br/>
            <a:br/>
            <a:r>
              <a:t>—— 六大要求全部覆盖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74320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未来路线图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现在：单景区灵山 demo</a:t>
            </a:r>
            <a:br/>
            <a:r>
              <a:t>中期：多景区 SaaS 平台</a:t>
            </a:r>
            <a:br/>
            <a:r>
              <a:t>      数字人个性化形象</a:t>
            </a:r>
            <a:br/>
            <a:r>
              <a:t>远期：AR 实景导览 · 方言</a:t>
            </a:r>
            <a:br/>
            <a:r>
              <a:t>      离线模式 · 导游分身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A0722A"/>
                </a:solidFill>
                <a:latin typeface="微软雅黑"/>
              </a:defRPr>
            </a:pPr>
            <a:r>
              <a:t>画饼：这套架构是平台化的 —— 景区表 + 知识库隔离已为"多景区 SaaS"打好地基。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A0722A"/>
                </a:solidFill>
                <a:latin typeface="微软雅黑"/>
              </a:defRPr>
            </a:pPr>
            <a:r>
              <a:t>下一步，任何景区上传资料，就能"复制"一个自己的数字人导游。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游客端五大页面 · 实机演示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每一屏都可以现场演示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103120" cy="384048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103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【截图】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首页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一屏看懂景区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71600"/>
            <a:ext cx="2103120" cy="384048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463040"/>
            <a:ext cx="2103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【截图】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云端伴游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数字人随叫随到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2103120" cy="384048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63040"/>
            <a:ext cx="2103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【截图】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游园地图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真实路线带路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59" y="1371600"/>
            <a:ext cx="2103120" cy="384048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59" y="1463040"/>
            <a:ext cx="2103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【截图】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智能定制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千人千面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371600"/>
            <a:ext cx="2103120" cy="384048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463040"/>
            <a:ext cx="2103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【截图】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胜境风物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评价打卡沉淀口碑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【配图】5 张真实运行截图并排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A0722A"/>
                </a:solidFill>
                <a:latin typeface="微软雅黑"/>
              </a:defRPr>
            </a:pPr>
            <a:r>
              <a:t>游前：智能定制 ｜ 游中：数字人讲解 + 地图带路 ｜ 游后：评价打卡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管理后台：一个人也能运营一座景区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把"技术活"变成"点按钮"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329184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数据大屏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实时服务人次 · 独立游客</a:t>
            </a:r>
            <a:br/>
            <a:r>
              <a:t>7 日趋势 · 各景点对话量</a:t>
            </a:r>
            <a:br/>
            <a:r>
              <a:t>热门问题 · 满意度趋势</a:t>
            </a:r>
            <a:br/>
            <a:br/>
            <a:r>
              <a:t>【截图】数据大屏图表特写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329184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内容管理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知识库：上传 docx 即入库</a:t>
            </a:r>
            <a:br/>
            <a:r>
              <a:t>        一键导入示例资料</a:t>
            </a:r>
            <a:br/>
            <a:r>
              <a:t>景区管理 · 数字人配置</a:t>
            </a:r>
            <a:br/>
            <a:r>
              <a:t>游客评价 · 游客打卡
失物招领 · 投诉建议</a:t>
            </a:r>
            <a:br/>
            <a:br/>
            <a:r>
              <a:t>【截图】知识库 / 评价管理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A0722A"/>
                </a:solidFill>
                <a:latin typeface="微软雅黑"/>
              </a:defRPr>
            </a:pPr>
            <a:r>
              <a:t>非技术人员也能上手：上传资料、看数据、管内容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【配图】后台三大截图（数据大屏 / 知识库 / 评价打卡）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从"乘云而入"到"一山一世界"的仪式感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开屏动画 + 国风设计语言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486400" cy="384048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【截图】开屏入场动画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灵山破晓大图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竖排"灵山胜境"标题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点击屏幕 · 破雾入场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sessionStorage 首次播放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384048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国风设计语言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主色：琥珀金 #c8963e</a:t>
            </a:r>
            <a:br/>
            <a:r>
              <a:t>     墨赭 #4a3c31</a:t>
            </a:r>
            <a:br/>
            <a:r>
              <a:t>     熟宣 #fbf9f5</a:t>
            </a:r>
            <a:br/>
            <a:br/>
            <a:r>
              <a:t>毛玻璃卡片 · 竖排文人美学</a:t>
            </a:r>
            <a:br/>
            <a:r>
              <a:t>暖色熟宣导航 · 页面切换动效</a:t>
            </a:r>
            <a:br/>
            <a:br/>
            <a:r>
              <a:t>【截图】UI 细节放大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A0722A"/>
                </a:solidFill>
                <a:latin typeface="微软雅黑"/>
              </a:defRPr>
            </a:pPr>
            <a:r>
              <a:t>产品体验做到"第一帧"：点开页面的那一刻，就是一个有仪式感的国风开场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167 个自动化测试，100% 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不是 demo，是能稳定交付的软件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2468880" cy="146304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167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测试用例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280160"/>
            <a:ext cx="2468880" cy="146304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716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40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通过率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2468880" cy="146304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40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大模块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80160"/>
            <a:ext cx="2468880" cy="146304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3716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&lt;5s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40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对话 P95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17520"/>
            <a:ext cx="11064240" cy="237744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模块分布（pytest）</a:t>
            </a:r>
          </a:p>
          <a:p>
            <a:pPr>
              <a:spcBef>
                <a:spcPts val="600"/>
              </a:spcBef>
              <a:defRPr sz="1200">
                <a:solidFill>
                  <a:srgbClr val="4A3C31"/>
                </a:solidFill>
                <a:latin typeface="微软雅黑"/>
              </a:defRPr>
            </a:pPr>
            <a:r>
              <a:t>用户 19 · 对话 28 · RAG 24 · 语音 9 · 后台 40 · 数据库 10 · 安全 19 · Bug 回归 7</a:t>
            </a:r>
            <a:br/>
            <a:br/>
            <a:r>
              <a:t>安全测试 19 项：鉴权绕过 / SQL 注入 / 敏感信息防护全覆盖</a:t>
            </a:r>
            <a:br/>
            <a:r>
              <a:t>性能：对话 P95 &lt; 5s · 流式首 token &lt; 2s</a:t>
            </a:r>
            <a:br/>
            <a:r>
              <a:t>工具链：pytest + FastAPI TestClient +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【配图】测试覆盖率报告截图 / 测试执行结果截图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真实问答效果："查得到、答得准、有温度"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RAG 价值的最佳证明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2011680"/>
          </a:xfrm>
          <a:prstGeom prst="roundRect">
            <a:avLst/>
          </a:prstGeom>
          <a:solidFill>
            <a:srgbClr val="F0EADF"/>
          </a:solidFill>
          <a:ln w="1270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知识库数据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知识条目 46 条：</a:t>
            </a:r>
            <a:br/>
            <a:r>
              <a:t>  景点讲解 22 · 文史资料 20</a:t>
            </a:r>
            <a:br/>
            <a:r>
              <a:t>  路线推荐 3 · 实用信息 1</a:t>
            </a:r>
            <a:br/>
            <a:r>
              <a:t>ChromaDB 向量：灵山 60 + 拈花湾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011680"/>
          </a:xfrm>
          <a:prstGeom prst="roundRect">
            <a:avLst/>
          </a:prstGeom>
          <a:solidFill>
            <a:srgbClr val="E6F0ED"/>
          </a:solidFill>
          <a:ln w="12700">
            <a:solidFill>
              <a:srgbClr val="2D8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defRPr sz="1600" b="1">
                <a:solidFill>
                  <a:srgbClr val="4A3C31"/>
                </a:solidFill>
                <a:latin typeface="微软雅黑"/>
              </a:defRPr>
            </a:pPr>
            <a:r>
              <a:t>实测问答</a:t>
            </a:r>
          </a:p>
          <a:p>
            <a:pPr>
              <a:spcBef>
                <a:spcPts val="600"/>
              </a:spcBef>
              <a:defRPr sz="1200">
                <a:solidFill>
                  <a:srgbClr val="8C7C6E"/>
                </a:solidFill>
                <a:latin typeface="微软雅黑"/>
              </a:defRPr>
            </a:pPr>
            <a:r>
              <a:t>Q: 灵山有哪些住宿推荐？</a:t>
            </a:r>
            <a:br/>
            <a:r>
              <a:t>A: 灵山精舍 + 马山周边酒店（命中）</a:t>
            </a:r>
            <a:br/>
            <a:br/>
            <a:r>
              <a:t>Q: 九龙灌浴几点演出？</a:t>
            </a:r>
            <a:br/>
            <a:r>
              <a:t>A: 4 个场次 + 提前10分钟（命中）</a:t>
            </a:r>
            <a:br/>
            <a:br/>
            <a:r>
              <a:t>Q: 明年春节活动？</a:t>
            </a:r>
            <a:br/>
            <a:r>
              <a:t>A: 友好提示"资料中未查询到"（防幻觉）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【配图】3 组问答截图（命中 / 命中 / 未命中友好提示）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A0722A"/>
                </a:solidFill>
                <a:latin typeface="微软雅黑"/>
              </a:defRPr>
            </a:pPr>
            <a:r>
              <a:t>问得到：46 条结构化知识 + 76 条向量片段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A0722A"/>
                </a:solidFill>
                <a:latin typeface="微软雅黑"/>
              </a:defRPr>
            </a:pPr>
            <a:r>
              <a:t>答得准：RAG 检索增强，回答可追溯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A0722A"/>
                </a:solidFill>
                <a:latin typeface="微软雅黑"/>
              </a:defRPr>
            </a:pPr>
            <a:r>
              <a:t>有温度：查不到时诚实告知，而不是编造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A0722A"/>
                </a:solidFill>
                <a:latin typeface="微软雅黑"/>
              </a:defRPr>
            </a:pPr>
          </a:p>
          <a:p>
            <a:pPr algn="ctr">
              <a:spcAft>
                <a:spcPts val="400"/>
              </a:spcAft>
              <a:defRPr sz="1600" b="1">
                <a:solidFill>
                  <a:srgbClr val="A0722A"/>
                </a:solidFill>
                <a:latin typeface="微软雅黑"/>
              </a:defRPr>
            </a:pPr>
            <a:r>
              <a:t>这就是 RAG 的价值 —— 让大模型"懂灵山、不胡说"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C7C6E"/>
                </a:solidFill>
                <a:latin typeface="微软雅黑"/>
              </a:defRPr>
            </a:pPr>
            <a:r>
              <a:t>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07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07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92608"/>
            <a:ext cx="73152" cy="4572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A3C31"/>
                </a:solidFill>
                <a:latin typeface="微软雅黑"/>
              </a:defRPr>
            </a:pPr>
            <a:r>
              <a:t>灵导者队：让科技有温度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32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C7C6E"/>
                </a:solidFill>
                <a:latin typeface="微软雅黑"/>
              </a:defRPr>
            </a:pPr>
            <a:r>
              <a:t>三人协作 · 一个目标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200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0160"/>
            <a:ext cx="3474720" cy="310896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3474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8C7C6E"/>
                </a:solidFill>
                <a:latin typeface="微软雅黑"/>
              </a:defRPr>
            </a:pPr>
            <a:r>
              <a:t>【证件照】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4A3C31"/>
                </a:solidFill>
                <a:latin typeface="微软雅黑"/>
              </a:defRPr>
            </a:pPr>
            <a:r>
              <a:t>成员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A0722A"/>
                </a:solidFill>
                <a:latin typeface="微软雅黑"/>
              </a:defRPr>
            </a:pPr>
            <a:r>
              <a:t>后端核心 + AI 链路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DeepSeek / RAG / ASR / TTS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数据模型 / API 设计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280160"/>
            <a:ext cx="3474720" cy="310896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3474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8C7C6E"/>
                </a:solidFill>
                <a:latin typeface="微软雅黑"/>
              </a:defRPr>
            </a:pPr>
            <a:r>
              <a:t>【证件照】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4A3C31"/>
                </a:solidFill>
                <a:latin typeface="微软雅黑"/>
              </a:defRPr>
            </a:pPr>
            <a:r>
              <a:t>成员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A0722A"/>
                </a:solidFill>
                <a:latin typeface="微软雅黑"/>
              </a:defRPr>
            </a:pPr>
            <a:r>
              <a:t>前端开发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5760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游客端交互 / 数字人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语音流式 / 国风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280160"/>
            <a:ext cx="3474720" cy="3108960"/>
          </a:xfrm>
          <a:prstGeom prst="round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463040"/>
            <a:ext cx="3474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8C7C6E"/>
                </a:solidFill>
                <a:latin typeface="微软雅黑"/>
              </a:defRPr>
            </a:pPr>
            <a:r>
              <a:t>【证件照】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43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4A3C31"/>
                </a:solidFill>
                <a:latin typeface="微软雅黑"/>
              </a:defRPr>
            </a:pPr>
            <a:r>
              <a:t>成员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004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A0722A"/>
                </a:solidFill>
                <a:latin typeface="微软雅黑"/>
              </a:defRPr>
            </a:pPr>
            <a:r>
              <a:t>全栈 + 后台 + 文档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65760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管理后台 / Docker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8C7C6E"/>
                </a:solidFill>
                <a:latin typeface="微软雅黑"/>
              </a:defRPr>
            </a:pPr>
            <a:r>
              <a:t>文档 / PPT 演示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8C7C6E"/>
                </a:solidFill>
                <a:latin typeface="微软雅黑"/>
              </a:defRPr>
            </a:pPr>
            <a:r>
              <a:t>指导教师：张鹏程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5303520"/>
            <a:ext cx="7772400" cy="914400"/>
          </a:xfrm>
          <a:prstGeom prst="round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5349240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一座山，一个数字人 —— 让每个游客都能"乘云而入，一山一世界"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感谢聆听 ·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